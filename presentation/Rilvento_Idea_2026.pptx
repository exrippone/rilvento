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342210d6649a7" /><Relationship Type="http://schemas.openxmlformats.org/officeDocument/2006/relationships/extended-properties" Target="/docProps/app.xml" Id="Rcbf187b2b49744d6" /><Relationship Type="http://schemas.openxmlformats.org/officeDocument/2006/relationships/officeDocument" Target="/ppt/presentation.xml" Id="Rfdd65afcea7c4a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066614d43f4ef6"/>
  </p:sldMasterIdLst>
  <p:notesMasterIdLst>
    <p:notesMasterId xmlns:r="http://schemas.openxmlformats.org/officeDocument/2006/relationships" r:id="R1e51bf823a2f49d1"/>
  </p:notesMasterIdLst>
  <p:sldIdLst>
    <p:sldId xmlns:r="http://schemas.openxmlformats.org/officeDocument/2006/relationships" id="256" r:id="Rbc9496f48e364719"/>
    <p:sldId xmlns:r="http://schemas.openxmlformats.org/officeDocument/2006/relationships" id="257" r:id="R7fa5557468bf44cb"/>
    <p:sldId xmlns:r="http://schemas.openxmlformats.org/officeDocument/2006/relationships" id="258" r:id="R8840eeb18d9c4419"/>
    <p:sldId xmlns:r="http://schemas.openxmlformats.org/officeDocument/2006/relationships" id="259" r:id="R3a67ef3c4ed74c6f"/>
    <p:sldId xmlns:r="http://schemas.openxmlformats.org/officeDocument/2006/relationships" id="260" r:id="R5739b61cc027422d"/>
    <p:sldId xmlns:r="http://schemas.openxmlformats.org/officeDocument/2006/relationships" id="261" r:id="R5383d1898922432b"/>
    <p:sldId xmlns:r="http://schemas.openxmlformats.org/officeDocument/2006/relationships" id="262" r:id="R4de52b9144734142"/>
    <p:sldId xmlns:r="http://schemas.openxmlformats.org/officeDocument/2006/relationships" id="263" r:id="R4f759ea46b30484c"/>
    <p:sldId xmlns:r="http://schemas.openxmlformats.org/officeDocument/2006/relationships" id="264" r:id="R211e8ed76cea451f"/>
    <p:sldId xmlns:r="http://schemas.openxmlformats.org/officeDocument/2006/relationships" id="265" r:id="Raef7da6e08294cb0"/>
    <p:sldId xmlns:r="http://schemas.openxmlformats.org/officeDocument/2006/relationships" id="266" r:id="Rd4ce610ca06c4538"/>
    <p:sldId xmlns:r="http://schemas.openxmlformats.org/officeDocument/2006/relationships" id="267" r:id="Rcf2db081de2546db"/>
    <p:sldId xmlns:r="http://schemas.openxmlformats.org/officeDocument/2006/relationships" id="268" r:id="R432c0d73f9b747dd"/>
    <p:sldId xmlns:r="http://schemas.openxmlformats.org/officeDocument/2006/relationships" id="269" r:id="R6953db960e0c475a"/>
    <p:sldId xmlns:r="http://schemas.openxmlformats.org/officeDocument/2006/relationships" id="270" r:id="Rc6bf6c31834f4f97"/>
    <p:sldId xmlns:r="http://schemas.openxmlformats.org/officeDocument/2006/relationships" id="271" r:id="R196e3ae8fdea4f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25a10f28f4589" /><Relationship Type="http://schemas.openxmlformats.org/officeDocument/2006/relationships/slideMaster" Target="/ppt/slideMasters/slideMaster1.xml" Id="Rfb066614d43f4ef6" /><Relationship Type="http://schemas.openxmlformats.org/officeDocument/2006/relationships/notesMaster" Target="/ppt/notesMasters/notesMaster1.xml" Id="R1e51bf823a2f49d1" /><Relationship Type="http://schemas.openxmlformats.org/officeDocument/2006/relationships/presProps" Target="/ppt/presProps.xml" Id="Ref5f0310b4154112" /><Relationship Type="http://schemas.openxmlformats.org/officeDocument/2006/relationships/tableStyles" Target="/ppt/tableStyles.xml" Id="R33ac14854db141ce" /><Relationship Type="http://schemas.openxmlformats.org/officeDocument/2006/relationships/slide" Target="/ppt/slides/slide1.xml" Id="Rbc9496f48e364719" /><Relationship Type="http://schemas.openxmlformats.org/officeDocument/2006/relationships/slide" Target="/ppt/slides/slide2.xml" Id="R7fa5557468bf44cb" /><Relationship Type="http://schemas.openxmlformats.org/officeDocument/2006/relationships/slide" Target="/ppt/slides/slide3.xml" Id="R8840eeb18d9c4419" /><Relationship Type="http://schemas.openxmlformats.org/officeDocument/2006/relationships/slide" Target="/ppt/slides/slide4.xml" Id="R3a67ef3c4ed74c6f" /><Relationship Type="http://schemas.openxmlformats.org/officeDocument/2006/relationships/slide" Target="/ppt/slides/slide5.xml" Id="R5739b61cc027422d" /><Relationship Type="http://schemas.openxmlformats.org/officeDocument/2006/relationships/slide" Target="/ppt/slides/slide6.xml" Id="R5383d1898922432b" /><Relationship Type="http://schemas.openxmlformats.org/officeDocument/2006/relationships/slide" Target="/ppt/slides/slide7.xml" Id="R4de52b9144734142" /><Relationship Type="http://schemas.openxmlformats.org/officeDocument/2006/relationships/slide" Target="/ppt/slides/slide8.xml" Id="R4f759ea46b30484c" /><Relationship Type="http://schemas.openxmlformats.org/officeDocument/2006/relationships/slide" Target="/ppt/slides/slide9.xml" Id="R211e8ed76cea451f" /><Relationship Type="http://schemas.openxmlformats.org/officeDocument/2006/relationships/slide" Target="/ppt/slides/slide10.xml" Id="Raef7da6e08294cb0" /><Relationship Type="http://schemas.openxmlformats.org/officeDocument/2006/relationships/slide" Target="/ppt/slides/slide11.xml" Id="Rd4ce610ca06c4538" /><Relationship Type="http://schemas.openxmlformats.org/officeDocument/2006/relationships/slide" Target="/ppt/slides/slide12.xml" Id="Rcf2db081de2546db" /><Relationship Type="http://schemas.openxmlformats.org/officeDocument/2006/relationships/slide" Target="/ppt/slides/slide13.xml" Id="R432c0d73f9b747dd" /><Relationship Type="http://schemas.openxmlformats.org/officeDocument/2006/relationships/slide" Target="/ppt/slides/slide14.xml" Id="R6953db960e0c475a" /><Relationship Type="http://schemas.openxmlformats.org/officeDocument/2006/relationships/slide" Target="/ppt/slides/slide15.xml" Id="Rc6bf6c31834f4f97" /><Relationship Type="http://schemas.openxmlformats.org/officeDocument/2006/relationships/slide" Target="/ppt/slides/slide16.xml" Id="R196e3ae8fdea4f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945b3213fd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a36a679fcd4a88" /><Relationship Type="http://schemas.openxmlformats.org/officeDocument/2006/relationships/notesMaster" Target="/ppt/notesMasters/notesMaster1.xml" Id="R39b95eb2963641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90497423b4f33" /><Relationship Type="http://schemas.openxmlformats.org/officeDocument/2006/relationships/notesMaster" Target="/ppt/notesMasters/notesMaster1.xml" Id="Ra55935445f6543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f7cad4b19843ba" /><Relationship Type="http://schemas.openxmlformats.org/officeDocument/2006/relationships/notesMaster" Target="/ppt/notesMasters/notesMaster1.xml" Id="R65ea6159d4064c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e861274e9a4236" /><Relationship Type="http://schemas.openxmlformats.org/officeDocument/2006/relationships/notesMaster" Target="/ppt/notesMasters/notesMaster1.xml" Id="Rab9fb674f3f34e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710d7fda09424b" /><Relationship Type="http://schemas.openxmlformats.org/officeDocument/2006/relationships/notesMaster" Target="/ppt/notesMasters/notesMaster1.xml" Id="R876782a8487343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ed88bda8740c5" /><Relationship Type="http://schemas.openxmlformats.org/officeDocument/2006/relationships/notesMaster" Target="/ppt/notesMasters/notesMaster1.xml" Id="R19081c235b2342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ea884a4b4547ed" /><Relationship Type="http://schemas.openxmlformats.org/officeDocument/2006/relationships/notesMaster" Target="/ppt/notesMasters/notesMaster1.xml" Id="R0d017b25a4a1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7ea27835b24a36" /><Relationship Type="http://schemas.openxmlformats.org/officeDocument/2006/relationships/notesMaster" Target="/ppt/notesMasters/notesMaster1.xml" Id="R0976b2f90fde4c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49f92fcb2a4520" /><Relationship Type="http://schemas.openxmlformats.org/officeDocument/2006/relationships/notesMaster" Target="/ppt/notesMasters/notesMaster1.xml" Id="R972d08cd4baf4a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19fba37cac46a7" /><Relationship Type="http://schemas.openxmlformats.org/officeDocument/2006/relationships/notesMaster" Target="/ppt/notesMasters/notesMaster1.xml" Id="R71eaa531c9fa47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c3543005414914" /><Relationship Type="http://schemas.openxmlformats.org/officeDocument/2006/relationships/notesMaster" Target="/ppt/notesMasters/notesMaster1.xml" Id="Rec333b12e5434f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89ad8d98cf44ba" /><Relationship Type="http://schemas.openxmlformats.org/officeDocument/2006/relationships/notesMaster" Target="/ppt/notesMasters/notesMaster1.xml" Id="R3aa7492870c047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d271f3e1fd49aa" /><Relationship Type="http://schemas.openxmlformats.org/officeDocument/2006/relationships/notesMaster" Target="/ppt/notesMasters/notesMaster1.xml" Id="R0bc8c1bed80146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24e8e875314a1d" /><Relationship Type="http://schemas.openxmlformats.org/officeDocument/2006/relationships/notesMaster" Target="/ppt/notesMasters/notesMaster1.xml" Id="Reec260c9021a48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02fdbf05504447" /><Relationship Type="http://schemas.openxmlformats.org/officeDocument/2006/relationships/notesMaster" Target="/ppt/notesMasters/notesMaster1.xml" Id="R0efb7ee9719842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26b66c4fdd48d6" /><Relationship Type="http://schemas.openxmlformats.org/officeDocument/2006/relationships/notesMaster" Target="/ppt/notesMasters/notesMaster1.xml" Id="Rbaabaf955fcf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Автор: заполнить перед подачей. Исследовательская стадия. Ни продаж, ни готовности к эксплуатации не заявляем.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Путь средств не доказывает законность дохода. Существование инструментов аналитики подтверждается официальными сайтами CoinKYT и ШАРД, проверка 15.10.2026. https://coinkyt.com/ecosystem https://shard.ru/manual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Рабочий слой поверх провайдеров, без собственной базы меток. Запрос клиенту является черновиком, не отправляется. Формулировки требуют юридического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гипотеза целевой аудитории, не результаты интервью. AML: Anti-Money Laundering, противодействие отмыванию денег. Категории инфраструктуры описаны ЦБ: https://www.cbr.ru/develop/cryptocurrency/ Проверено 15.10.2026, официальное описание; применимость к конкретной компании неизвестна.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Список пока не собран. Формула: число организаций × доля подходящих × месячная плата × 12. Не смешиваем оборот криптовалют с рынком ПО. 5 клиентов по 45 тыс. ₽: 2,7 млн ₽ годовой выручки в установившемся режиме, не выручка первого года. Доля реального рынка неизвестна. Размер зарубежного сегмента не оценён.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Проверено 15.10.2026, официальные заявления поставщиков, независимого тестирования нет: https://coinkyt.com/ecosystem https://shard.ru/manual https://www.elliptic.co/products/elliptic-copilot/ Отсутствие функции на сайте не доказывает её отсутствие. Превосходство Rilvento не подтверждено.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демо текст собирает TemplateWriter. Числа и путь считает код. Внешняя LLM, большая языковая модель, не используется. Предполагаемый будущий AI получает только разрешённые факты и не создаёт метки, пути и нормы права.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Фактические результаты 15.10.2026 в docs/test-report.md. Одно предупреждение об устаревании TestClient. Автоматизированный браузерный проход с отказом провайдера: 60 секунд без речи. Это не доказательство спроса или промышленной защищённости. Скриншот собственного синтетического прототипа.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числа являются допущениями. 45 000 − 15 000 = 30 000, 30 000 / 45 000 = 66,7%, 180 000 / 30 000 = 6 месяцев. Налоги, отток и неплатежи не моделируются. Экономию времени и объём случаев нужно измерить.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Сценарии из viability.md. Базовая удельная маржа 30 тыс. ₽: ceil(350/30)=12 клиентов. Для других сценариев цены и расходы отличаются: 25/12 и 70/20 тыс. ₽. Ориентир 12–24 месяца до операционной безубыточности — условный план только при подтверждении спроса, не прогноз. Первые 5 клиентов не покрывают предполагаемые постоянные затраты.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Сумма 35+30+10+15+10=100 тыс. ₽. Официальная страница трека: https://cs.hse.ru/cppr/enterprise/stipendium_2026 Проверено 15.10.2026, официально. Стипендия выплачивается четыре месяца. Возможность расходования и документирования по каждой статье не установлена. Средств достаточно для проверки гипотез, а не запуска сервиса.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план, не обещание результатов. Остановка при запрете использования данных, отсутствии дополнительной ценности или отрицательной марже. Метрики: активное время, возвраты на доработку, поддержка утверждений источниками, пропущенные пробелы.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Стратегия условная. Стартовый российский сегмент может оказаться малым. Не предполагаем автоматическую переносимость правовых правил или схемы БД. Год 2 не является гарантированным сроком окупаемости.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и опыт сообщены пользователем, внешне не проверялись. Личные сведения пользователь заполняет самостоятельно. Нельзя объявлять партнёрами экспертов и компании, с которыми ещё нет договорённости.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текущей стадии не предлагаем неподтверждённую оценку и не обещаем доходность. Предложение инвестору — участие в экспертной проверке и обсуждение будущего раунда после заранее определённых критериев. Отправки сообщений и привлечения средств не выполнялись.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Официальные первоисточники, проверены 15.10.2026. Критерии трека: https://cs.hse.ru/mirror/pubs/share/963062917.pdf Полное кабинетное исследование и ограничения: docs/analysis.md. Спрос и правовая применимость не подтверждены.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d53228d5941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7f88b5e6c4c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17cbe6c7042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fd062a67548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65f6d8066140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c65d9e91a46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913BD2-8680-4AEC-ABAB-7D682AD34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6B7E4C-9590-43C6-82BE-D7D45AD7C8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F3FBAB-7D28-4AA9-9839-C227A3799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3A6F9E-181E-45ED-B9E3-3C0EBC66C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29268F-4D77-40AF-BD83-A637B0BD47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1B5675-B893-49E7-9E3E-C7257B5F15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7920D8-EF33-4642-A42F-C6C58BCC87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CBC751-BB8C-4A8E-BCD7-C57E4873B5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43BD9D-FC9F-4330-B142-514CA28A5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7689F5-2D70-481A-B36E-479BF3D275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9b83d55d3b4176" /><Relationship Type="http://schemas.openxmlformats.org/officeDocument/2006/relationships/slideLayout" Target="/ppt/slideLayouts/slideLayout1.xml" Id="R037789fbfb0340c8" /><Relationship Type="http://schemas.openxmlformats.org/officeDocument/2006/relationships/slideLayout" Target="/ppt/slideLayouts/slideLayout2.xml" Id="R46af3a4b437d4015" /><Relationship Type="http://schemas.openxmlformats.org/officeDocument/2006/relationships/slideLayout" Target="/ppt/slideLayouts/slideLayout3.xml" Id="Rf0621b4a4708496d" /><Relationship Type="http://schemas.openxmlformats.org/officeDocument/2006/relationships/slideLayout" Target="/ppt/slideLayouts/slideLayout4.xml" Id="R8c401e0da1e7469a" /><Relationship Type="http://schemas.openxmlformats.org/officeDocument/2006/relationships/slideLayout" Target="/ppt/slideLayouts/slideLayout5.xml" Id="R04a75c531b174b81" /><Relationship Type="http://schemas.openxmlformats.org/officeDocument/2006/relationships/slideLayout" Target="/ppt/slideLayouts/slideLayout6.xml" Id="R1c3e7ef18e3140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7789fbfb0340c8"/>
    <p:sldLayoutId xmlns:r="http://schemas.openxmlformats.org/officeDocument/2006/relationships" id="2147483650" r:id="R46af3a4b437d4015"/>
    <p:sldLayoutId xmlns:r="http://schemas.openxmlformats.org/officeDocument/2006/relationships" id="2147483651" r:id="Rf0621b4a4708496d"/>
    <p:sldLayoutId xmlns:r="http://schemas.openxmlformats.org/officeDocument/2006/relationships" id="2147483652" r:id="R8c401e0da1e7469a"/>
    <p:sldLayoutId xmlns:r="http://schemas.openxmlformats.org/officeDocument/2006/relationships" id="2147483653" r:id="R04a75c531b174b81"/>
    <p:sldLayoutId xmlns:r="http://schemas.openxmlformats.org/officeDocument/2006/relationships" id="2147483654" r:id="R1c3e7ef18e3140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c975101b354908" /><Relationship Type="http://schemas.openxmlformats.org/officeDocument/2006/relationships/notesSlide" Target="/ppt/notesSlides/notesSlide1.xml" Id="R0d1befca29154b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2a78b837b4ed0" /><Relationship Type="http://schemas.openxmlformats.org/officeDocument/2006/relationships/notesSlide" Target="/ppt/notesSlides/notesSlide2.xml" Id="R1286dc5b9b7043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fea6e81f4d4a32" /><Relationship Type="http://schemas.openxmlformats.org/officeDocument/2006/relationships/notesSlide" Target="/ppt/notesSlides/notesSlide3.xml" Id="R9fb656218c8243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089708faa46ea" /><Relationship Type="http://schemas.openxmlformats.org/officeDocument/2006/relationships/notesSlide" Target="/ppt/notesSlides/notesSlide4.xml" Id="Rf37ebb79c66248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6ea78e3d24274" /><Relationship Type="http://schemas.openxmlformats.org/officeDocument/2006/relationships/notesSlide" Target="/ppt/notesSlides/notesSlide5.xml" Id="Rc2a924cd701d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f5b754035a4a0e" /><Relationship Type="http://schemas.openxmlformats.org/officeDocument/2006/relationships/notesSlide" Target="/ppt/notesSlides/notesSlide6.xml" Id="Re7385489a76b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fb291bd2943ab" /><Relationship Type="http://schemas.openxmlformats.org/officeDocument/2006/relationships/notesSlide" Target="/ppt/notesSlides/notesSlide7.xml" Id="Rc548f8752ea7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30932c40f41b9" /><Relationship Type="http://schemas.openxmlformats.org/officeDocument/2006/relationships/image" Target="/ppt/media/image.jpeg" Id="R132e6f19627248ce" /><Relationship Type="http://schemas.openxmlformats.org/officeDocument/2006/relationships/notesSlide" Target="/ppt/notesSlides/notesSlide8.xml" Id="R0bc5b5dc240b4f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6cb972bdf49ac" /><Relationship Type="http://schemas.openxmlformats.org/officeDocument/2006/relationships/notesSlide" Target="/ppt/notesSlides/notesSlide9.xml" Id="R7ef5c4ae36ff46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d2f0cea1a4c99" /><Relationship Type="http://schemas.openxmlformats.org/officeDocument/2006/relationships/notesSlide" Target="/ppt/notesSlides/notesSlide10.xml" Id="R1c788ee59c014c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19b2022b94fb1" /><Relationship Type="http://schemas.openxmlformats.org/officeDocument/2006/relationships/notesSlide" Target="/ppt/notesSlides/notesSlide11.xml" Id="R9bfeb35e875040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632966442f454e" /><Relationship Type="http://schemas.openxmlformats.org/officeDocument/2006/relationships/notesSlide" Target="/ppt/notesSlides/notesSlide12.xml" Id="R11c9df2dd8a241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c0c49e8e24a43" /><Relationship Type="http://schemas.openxmlformats.org/officeDocument/2006/relationships/notesSlide" Target="/ppt/notesSlides/notesSlide13.xml" Id="R488bae195d9f47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1baf108e0e4405" /><Relationship Type="http://schemas.openxmlformats.org/officeDocument/2006/relationships/notesSlide" Target="/ppt/notesSlides/notesSlide14.xml" Id="R23373aa8b5834c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73836a7c048d3" /><Relationship Type="http://schemas.openxmlformats.org/officeDocument/2006/relationships/notesSlide" Target="/ppt/notesSlides/notesSlide15.xml" Id="Rac5c3706e01542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9af06a5fa4e99" /><Relationship Type="http://schemas.openxmlformats.org/officeDocument/2006/relationships/notesSlide" Target="/ppt/notesSlides/notesSlide16.xml" Id="Ra2a06f26b0874e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43698-993C-44E3-96EC-1F17635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200" b="1">
                <a:solidFill>
                  <a:srgbClr val="E5F2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E5F2C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E5F2CA"/>
                </a:solidFill>
                <a:latin typeface="Arial"/>
                <a:ea typeface="Arial"/>
                <a:cs typeface="Arial"/>
              </a:rPr>
              <a:t>Rilvento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016B-F8D5-48E3-B593-193F517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Проверяемое AML-досье</a:t>
            </a:r>
          </a:p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происхождению средств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5F7DF-C838-46A4-AD8D-756D6F99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7D8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C7D8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7D8C9"/>
                </a:solidFill>
                <a:latin typeface="Arial"/>
                <a:ea typeface="Arial"/>
                <a:cs typeface="Arial"/>
              </a:rPr>
              <a:t>AML — противодействие отмыванию денег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5D391-D884-4682-B0E6-1EA3E01B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7D8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7D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8C9"/>
                </a:solidFill>
                <a:latin typeface="Arial"/>
                <a:ea typeface="Arial"/>
                <a:cs typeface="Arial"/>
              </a:rPr>
              <a:t>Лучшая идея предпринимательского проекта</a:t>
            </a:r>
          </a:p>
          <a:p xmlns:a="http://schemas.openxmlformats.org/drawingml/2006/main">
            <a:pPr>
              <a:defRPr sz="1875" b="0">
                <a:solidFill>
                  <a:srgbClr val="C7D8C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7D8C9"/>
                </a:solidFill>
                <a:latin typeface="Arial"/>
                <a:ea typeface="Arial"/>
                <a:cs typeface="Arial"/>
              </a:rPr>
              <a:t>Стипендия ФКН ВШЭ «Молодой предприниматель»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09480-F304-489E-A6FE-A2C9C36A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D0B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FD0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D0BF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209730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54E43-E188-4AB6-A44D-E35D01D5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Проблема: собрать основания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B1AA3-ACAD-40B1-A449-FC08ED27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14C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14C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C3C"/>
                </a:solidFill>
                <a:latin typeface="Arial"/>
                <a:ea typeface="Arial"/>
                <a:cs typeface="Arial"/>
              </a:rPr>
              <a:t>История криптовалюты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A4BC1-5F0B-4CAA-A28A-22394082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F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F43"/>
                </a:solidFill>
                <a:latin typeface="Arial"/>
                <a:ea typeface="Arial"/>
                <a:cs typeface="Arial"/>
              </a:rPr>
              <a:t>Транзакции, связи адресов и метки провайдера показывают движение актива.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5EFDB-3803-4523-9649-3104C7CA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14C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14C3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4C3C"/>
                </a:solidFill>
                <a:latin typeface="Arial"/>
                <a:ea typeface="Arial"/>
                <a:cs typeface="Arial"/>
              </a:rPr>
              <a:t>Экономическое происхождение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8DB21-8CDD-4ABA-A102-0FC0DDB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953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344F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344F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344F43"/>
                </a:solidFill>
                <a:latin typeface="Arial"/>
                <a:ea typeface="Arial"/>
                <a:cs typeface="Arial"/>
              </a:rPr>
              <a:t>Договор, оплата, приобретение и вывод актива требуют документальной проверки.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FD3F6-1A78-4B5B-B3A9-C356497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Гипотеза проблемы: сотрудник тратит время на сборку разрозненных материалов. Интервью ещё не проводились.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16241-CC29-4E52-8B08-D1DFB04C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574437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6FF84-E384-4C9E-9DDE-452F7B8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Решение: досье одного случая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6187A-5EF6-4F09-B102-F5FAA325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1. Собрать снимки транзакций, меток и документов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D2900-A47C-480F-A4B2-28E31ADF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2. Связать каждое утверждение с его источником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CFB52-B805-41D5-8CCC-A8C7E7A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3. Показать документальные пробелы и подготовить запрос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BCA79-B5ED-4988-949F-6A67FE5B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4. Согласовать версию досье и сохранить историю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AB714-A01A-4DE7-BD52-10B082E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Цель проверки: сократить время подготовки при сохранении качества и полноты оснований. Эффект ещё не измерен.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A4710-F6E7-40D2-861A-44DD9AC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135750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5CA03-1B48-418D-A9C5-6CE5182E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Первые пользователи и покупатели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4FEF8-2CA6-45D2-B70D-300873FC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Пользователь: AML-аналитик небольшой криптовалютной компании с уже существующей функцией контроля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53817-A004-4C97-8775-D2A99CA0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Покупатель: владелец компании или руководитель комплаенса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16180-F64A-458B-9CC2-3D32BAB0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Сценарий: сложный входящий перевод с непрямой риск-атрибуцией и неполными документами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B6E3D-CD95-4FC6-8E68-5DFC4D75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Критерий отбора: повторяемые случаи, ответственный сотрудник и разрешённое использование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E87F8-2A94-4CFD-A69A-119F6A1A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Банки и будущие операторы рассматриваются как последующие сегменты. Наличие покупателей в них не установлено.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42839-81CA-47FC-8A8E-BE85E711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666265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3712C-2D8A-4D46-B850-4A81EAE5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Рынок: модель снизу вверх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B4137-3E29-4120-9B57-A06ED073CE1F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48000"/>
                <a:gridCol w="30480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Входные допущения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Узкий сценарий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Широкий сценарий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Список организаций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Доля подходящих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Подходящие покупатели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Подписка в месяц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25 тыс.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80 тыс.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Выручка при полном охвате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1,8 млн ₽ / год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72 млн ₽ / год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48129-9532-4D04-879C-45A59962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Все числа — допущения, не измеренный объём рынка. Ориентир первого года: 5 платящих организаций при подтверждении спроса.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01201-99CE-4DBF-95B5-6E730C20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2058342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568D-CE4A-4F96-9717-3BC191D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Конкуренты и простые альтернативы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B3551-2C63-4A8A-9FD0-24003B1707F5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48000"/>
                <a:gridCol w="304800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Альтернатива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Публичное предложение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 для Rilvento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CoinKYT и ШАРД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Проверки, граф, расследования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Проверить добавочную ценность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Elliptic Copilot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AI-сводки и материалы случая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Не конкурировать одним AI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Консультант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Разбор случая как услуга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Сравнить цену и результат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Таблица и папка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Ручная сборка документов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Доказать пользу отдельного ПО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F1D96-7F3A-4DB2-AF44-665D9AB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Гипотеза преимущества: единое документальное досье. Описания поставщиков [1–3], проверка 15.10.2026, официальные источники.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7732E-EC39-406F-AFA3-B0A38555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2082297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4EDD0-41F4-4978-9512-3A98885D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Оригинальность концепции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93EEB-0181-42CB-92E3-453C4455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Две части досье: движение актива и экономическая документальная цепочка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ABDF7-CC6C-4384-92E5-190D5F59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Различимые типы утверждений: факт, атрибуция провайдера, эвристика, гипотеза, решение сотрудника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F99B9-9769-474E-A542-62212C6F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Проверяемые ссылки и сохранённые снимки источников каждой версии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C5CC1-A3F3-498F-9F01-C18CC200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Повторное согласование после изменения доказательств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4C132-3883-4FC0-B521-EF1AC0BB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Рабочая гипотеза отличия, а не заявление об уникальности на рынке. Провайдер может добавить аналогичные функции.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AE328-637C-4539-997F-BDCD6941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136860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17A8C-6911-47A9-93F9-25F2FE0A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Исследовательский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17FF3-1B76-477F-A08B-DDF5A2B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695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Работает сквозной сценарий одного синтетического случая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BB745-FFA7-4F9A-889C-61110BC3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695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Сервер проверяет роли, утверждения и ссылки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2E7EC-4E0E-4B98-827D-A66EC41F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695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Сохраняются версии и журнал действий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44B05-C2DB-4DE5-99B6-906531E3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695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33 автоматических теста прошли при подготовке прототипа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05944-F3F5-4885-9D4B-F351413E0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e6f19627248ce"/>
          <a:stretch xmlns:a="http://schemas.openxmlformats.org/drawingml/2006/main"/>
        </p:blipFill>
        <p:spPr>
          <a:xfrm xmlns:a="http://schemas.openxmlformats.org/drawingml/2006/main">
            <a:off x="8524875" y="1657971"/>
            <a:ext cx="2714625" cy="391353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9D29C-44F3-43DD-B205-C13FC730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ДЕМО КОНЦЕПЦИИ. Синтетические данные. Интеграции имитированы.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5D409-4C94-4ED2-832A-C8E2308C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112967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09A15-30A3-4F9D-90B1-C611F2CE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Подписка и экономика одного клиента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5BEB2-F53E-4017-AA61-7D0124AB36A7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667250"/>
              </a:tblGrid>
              <a:tr h="53067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Базовое допущение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Единица продажи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Организация / месяц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Плата за подписку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45 000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Переменные расходы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15 000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Маржинальный доход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30 000 ₽, или 67%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Затраты на привлечение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180 000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Окупаемость привлечения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6 месяцев по марже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6FF5A-EA12-4532-9A85-888BE12F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Резерв расходов включает данные, инфраструктуру и поддержку. Коммерческие цены API и готовность платить неизвестны.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2D363-7E29-4161-93CF-66D1F3B6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1819985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CCB85-8A5C-47DA-9F4D-21B9104C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Безубыточность и финансовый риск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4C5F4-9754-4AB1-AAC2-387A006BA2CB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000250"/>
                <a:gridCol w="2000250"/>
                <a:gridCol w="20002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 месяц, допущения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Консерват.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Базовый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Оптимист.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Клиенты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Выручка, тыс. ₽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450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1 750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Переменные, тыс. ₽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36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500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Постоянные, тыс. ₽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250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Остаток до налогов, тыс. ₽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−211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−50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75A1C-8D92-49D1-8A7D-5249602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В базовой модели операционная безубыточность начинается с 12 клиентов. Срок достижения и возврата вложений не подтверждён.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9C819-9130-47E8-9D7E-AC4D9758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603445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DDD33-F648-4088-A94F-570BE497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На что нужна стипендия: 100 000 ₽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DDE06-7AE5-4096-B7E3-385E571487B7}"/>
              </a:ext>
            </a:extLst>
          </p:cNvPr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000250"/>
                <a:gridCol w="4381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Расход на четыре месяца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Сумма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Проверяемый результат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T w="9525">
                      <a:solidFill>
                        <a:srgbClr val="DCE2D5"/>
                      </a:solidFill>
                      <a:prstDash val="solid"/>
                    </a:lnT>
                    <a:lnB w="9525">
                      <a:solidFill>
                        <a:srgbClr val="DCE2D5"/>
                      </a:solidFill>
                      <a:prstDash val="solid"/>
                    </a:lnB>
                    <a:solidFill>
                      <a:srgbClr val="153E3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Работа с AML-экспертом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35 000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Разбор 5 учебных случаев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Юридическая оценка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30 000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Карта данных и ограничений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Интервью и расшифровка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10 000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8 интервью, 5 организаций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Согласованный тестовый доступ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15 000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Права и набор для проверки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Среда и резерв работ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CE2D5"/>
                      </a:solidFill>
                      <a:prstDash val="solid"/>
                    </a:lnL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10 000 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473C"/>
                          </a:solidFill>
                          <a:latin typeface="Arial"/>
                          <a:ea typeface="Arial"/>
                          <a:cs typeface="Arial"/>
                        </a:rPr>
                        <a:t>Воспроизводимая демонстрация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CE2D5"/>
                      </a:solidFill>
                      <a:prstDash val="solid"/>
                    </a:lnR>
                    <a:lnB w="9525">
                      <a:solidFill>
                        <a:srgbClr val="DCE2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A554A-9890-4854-A9A9-A18AE773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План расходов — допущение, не коммерческие предложения. Разработку выполняет автор. Условия допустимых расходов нужно сверить с положением.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7F93F-5DE6-44ED-A934-D09652E5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8140731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B62C4-D3DC-4F3D-88E1-45EF511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План на год после конкурса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D2FB8-C45D-4364-B82A-A3BFA157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Месяцы 1–2: 8 интервью и наблюдение процессов в 5 организациях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390B9-5E5A-41B2-B5E2-3D7411A9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Месяцы 3–4: юридическая оценка, условия данных, сравнение с ручным шаблоном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B824D-CC37-4C97-A315-65A9A54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Месяцы 5–8: при пройденных критериях испытание разрешённых обезличенных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A1BFE-1D00-4A7F-AC5B-6F47ECE2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Месяцы 9–12: целевой ориентир 5 платящих организаций и измеренная себестоимость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62288-97B7-43A0-BC9B-D086C545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Условие продолжения: 2 владельца бюджета принимают конкретное ценовое предложение. Комплимент демонстрации не считается спросом.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AD69B-C55A-4F6C-BBCA-CD9D63F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7617959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44D29-3F02-488B-A122-E90AC42A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Развитие на три–пять лет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8A95B-92C7-4963-B492-684ED17D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Год 2: повторяемое внедрение в выбранном сегменте и достижение операционной безубыточности при подтверждённой экономике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2C720-ADB5-4B4E-ACE9-9399A3BD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Год 3: несколько лицензированных источников и встраивание в рабочие системы клиентов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95C38-FFA9-4A9C-BFB5-A669BCB9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Годы 4–5: документальные сценарии в смежных финансовых организациях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55101-5749-404A-838F-09A9A2DC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Выход в другие юрисдикции только после проверки спроса, лицензий и местных требований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F7420-BA73-45D8-8C86-C319E76E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Масштабирование строится на повторяемом процессе и правах на данные. Партнёрства и международный спрос пока не подтверждены.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2496-ED41-4FD6-8BEA-62F64C62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3554827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2CCFD-64AE-48B3-AFEA-BA9FD6E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Команда и необходимая поддержка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51709-BED5-4B6E-B72B-9407A898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Автор: заполнить перед подачей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8C5DF-9778-45D2-943C-F960FC69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Один разработчик с опытом коммерческого программирования и работы с криптовалютами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CDCA1-2D12-4EC2-BFD4-3E47359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Зона автора: продуктовая гипотеза, сервер, интерфейс и проверка прототипа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00D34-9925-4F1C-8319-9ECF9121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Нужны AML-эксперт, юрист и доступ к организациям для интервью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3960B-3E06-4377-9A7E-092A7E78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Участие проекта в других конкурсах, акселераторах и хакатонах: заполнить автору. Сведения не предоставлены.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15DE5-C48E-4A52-8179-D441FE13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8200930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45503-82AD-4116-B38E-33B074BF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Запрос и критерий успеха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21774-AF33-4C4C-BD43-C3BEA259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Стипендия: 100 000 ₽ на проверку гипотезы по детальному плану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9C8F8-047C-4FAA-A6A1-C70EC39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Нефинансовая поддержка: AML-наставник и знакомства с тремя организациями для исследования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0492C-C91C-4461-B174-713292E3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Для инвестора: обсуждение следующего финансирования после подтверждения спроса, прав на данные и маржи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953CE-08E9-4E07-9B1C-54D8C21F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Критерий успеха: проверяемое досье оказывается полезнее текущего процесса и имеет платящего покупателя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79644-18F6-4384-BD46-2C2649A3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Спрос и правовые выводы не подтверждены. Оценка компании, доля инвестора и условия сделки не определены.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BD45F-C215-4A55-A34B-C00FCD1A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7051964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91BD0-4D65-4F4D-86C4-6510549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E3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53E34"/>
                </a:solidFill>
                <a:latin typeface="Arial"/>
                <a:ea typeface="Arial"/>
                <a:cs typeface="Arial"/>
              </a:rPr>
              <a:t>Источники и статус утверждений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0B1D9-59EB-4B92-B7D6-D8E7F18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[1] CoinKYT: https://coinkyt.com/ecosystem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26B70-DEAA-4FEF-A6B6-DC5D5888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[2] ШАРД: https://shard.ru/manual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A9958-5BC3-4638-9579-604E2B43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[3] Elliptic: https://www.elliptic.co/products/elliptic-copilot/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B13C3-AE4A-4268-B458-48BA55D0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10763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4C3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C3E"/>
                </a:solidFill>
                <a:latin typeface="Arial"/>
                <a:ea typeface="Arial"/>
                <a:cs typeface="Arial"/>
              </a:rPr>
              <a:t>Конкурс: https://cs.hse.ru/cppr/enterprise/stipendium_2026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61DAD-F535-4E29-B48F-ED29520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15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876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65F"/>
                </a:solidFill>
                <a:latin typeface="Arial"/>
                <a:ea typeface="Arial"/>
                <a:cs typeface="Arial"/>
              </a:rPr>
              <a:t>Проверено 15.10.2026. Это официальные описания предложений, а не результаты их испытаний. Все числа рынка и экономики — допущения.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50861-1907-4A6E-A97C-A1B41CD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7B89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B89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657210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2026-10-15T20:53:21.7910000Z</dcterms:created>
  <dcterms:modified xsi:type="dcterms:W3CDTF">2026-10-15T20:53:21.7910000Z</dcterms:modified>
</coreProperties>
</file>